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5B224-4214-F94E-0D78-3FA2BD315DE1}" v="153" dt="2026-06-26T10:00:17.291"/>
    <p1510:client id="{C86560FA-85E4-0E77-50E6-14A0D1E41FDA}" v="67" dt="2026-06-26T10:20:01.4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C313E-3F26-4538-AFC3-2024FD13E6F0}" type="datetimeFigureOut"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E424F-2902-4B46-AA65-18916AFD7F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0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10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7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84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4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4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45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32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2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97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82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10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7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A2586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SKDV PARIVAR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Mobile App Enhancement</a:t>
            </a:r>
            <a:endParaRPr lang="en-US" sz="4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7D6CF"/>
                </a:solidFill>
                <a:latin typeface="Calibri"/>
                <a:ea typeface="Calibri"/>
                <a:cs typeface="Calibri"/>
              </a:rPr>
              <a:t>Scope, Challenges, Cost &amp; Rollout Plan</a:t>
            </a:r>
            <a:endParaRPr lang="en-US" sz="1900">
              <a:solidFill>
                <a:srgbClr val="E7D6C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463040" cy="0"/>
          </a:xfrm>
          <a:prstGeom prst="line">
            <a:avLst/>
          </a:prstGeom>
          <a:noFill/>
          <a:ln w="31750">
            <a:solidFill>
              <a:srgbClr val="C99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SKDV Parivar leadership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61320" y="2331720"/>
            <a:ext cx="914400" cy="914400"/>
          </a:xfrm>
          <a:prstGeom prst="ellipse">
            <a:avLst/>
          </a:prstGeom>
          <a:solidFill>
            <a:srgbClr val="A2586B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256946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connected builds: the member-facing app and the organization's admin panel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5C23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50876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5C2340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30552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" y="2239914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093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07008" y="23682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OTP + Aadhaar eKYC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807208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2916570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07008" y="2770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Dashboard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07008" y="30449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status, ID, totals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483864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42" y="359322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447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Module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07008" y="3721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UPI/Bank/QR, receipts, 2x/year rule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42" y="426988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41239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Transparency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07008" y="4398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gallery, annual reports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837176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442" y="4946538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07008" y="4800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Notifications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207008" y="5074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SMS, email, festival alerts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40080" y="5513832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442" y="5623194"/>
            <a:ext cx="201900" cy="2019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07008" y="5477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207008" y="5751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English content switch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309360" y="2130552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722" y="2239914"/>
            <a:ext cx="201900" cy="2019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76288" y="2093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876288" y="23682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queue, Aadhaar status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6309360" y="2807208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8722" y="2916570"/>
            <a:ext cx="201900" cy="2019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76288" y="2770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Oversight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6876288" y="30449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Reconciliation, transaction records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6309360" y="3483864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722" y="3593226"/>
            <a:ext cx="201900" cy="2019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876288" y="3447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6876288" y="3721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Raise, assign, resolve, FAQ admin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6309360" y="4160520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8722" y="4269882"/>
            <a:ext cx="201900" cy="20190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876288" y="41239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47" name="Text 35"/>
          <p:cNvSpPr/>
          <p:nvPr/>
        </p:nvSpPr>
        <p:spPr>
          <a:xfrm>
            <a:off x="6876288" y="4398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trends, exports (PDF/Excel)</a:t>
            </a:r>
            <a:endParaRPr lang="en-US" sz="1050" dirty="0"/>
          </a:p>
        </p:txBody>
      </p:sp>
      <p:sp>
        <p:nvSpPr>
          <p:cNvPr id="48" name="Shape 36"/>
          <p:cNvSpPr/>
          <p:nvPr/>
        </p:nvSpPr>
        <p:spPr>
          <a:xfrm>
            <a:off x="6309360" y="4837176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722" y="4946538"/>
            <a:ext cx="201900" cy="20190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876288" y="4800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Manager</a:t>
            </a:r>
            <a:endParaRPr lang="en-US" sz="1300" dirty="0"/>
          </a:p>
        </p:txBody>
      </p:sp>
      <p:sp>
        <p:nvSpPr>
          <p:cNvPr id="51" name="Text 38"/>
          <p:cNvSpPr/>
          <p:nvPr/>
        </p:nvSpPr>
        <p:spPr>
          <a:xfrm>
            <a:off x="6876288" y="5074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push/SMS/email control</a:t>
            </a:r>
            <a:endParaRPr lang="en-US" sz="1050" dirty="0"/>
          </a:p>
        </p:txBody>
      </p:sp>
      <p:sp>
        <p:nvSpPr>
          <p:cNvPr id="52" name="Shape 39"/>
          <p:cNvSpPr/>
          <p:nvPr/>
        </p:nvSpPr>
        <p:spPr>
          <a:xfrm>
            <a:off x="6309360" y="5513832"/>
            <a:ext cx="420624" cy="420624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8722" y="5623194"/>
            <a:ext cx="201900" cy="20190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876288" y="5477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Config</a:t>
            </a:r>
            <a:endParaRPr lang="en-US" sz="1300" dirty="0"/>
          </a:p>
        </p:txBody>
      </p:sp>
      <p:sp>
        <p:nvSpPr>
          <p:cNvPr id="55" name="Text 41"/>
          <p:cNvSpPr/>
          <p:nvPr/>
        </p:nvSpPr>
        <p:spPr>
          <a:xfrm>
            <a:off x="6876288" y="5751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limits, payment gateway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 We're Building Against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These aren't optional polish - they're what makes this an enterprise-grade build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7F0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5C234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562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Compliance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6700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must run through a UIDAI-licensed eKYC provider; numbers stored masked, never in plain text.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50876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7F0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737360"/>
            <a:ext cx="457200" cy="457200"/>
          </a:xfrm>
          <a:prstGeom prst="ellipse">
            <a:avLst/>
          </a:prstGeom>
          <a:solidFill>
            <a:srgbClr val="5C234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8562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(DPDP Act)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63440" y="26700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+ financial PII requires consent flows and data minimization, not just app security.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50876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7F0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737360"/>
            <a:ext cx="457200" cy="457200"/>
          </a:xfrm>
          <a:prstGeom prst="ellipse">
            <a:avLst/>
          </a:prstGeom>
          <a:solidFill>
            <a:srgbClr val="5C234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8562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Edge Cases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26700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between gateway and app records; failed/pending states; 80G receipt formatting.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7F0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5C234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0507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Enforcement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8646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2-donations/year cap must be validated server-side — UI-only limits are trivial to bypass.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34840" y="37033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7F0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3931920"/>
            <a:ext cx="457200" cy="457200"/>
          </a:xfrm>
          <a:prstGeom prst="ellipse">
            <a:avLst/>
          </a:prstGeom>
          <a:solidFill>
            <a:srgbClr val="5C234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405079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Content Ops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63440" y="48646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Hindi/English isn't a one-time toggle — every news item and FAQ needs an ongoing translation workflow.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7033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7F0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931920"/>
            <a:ext cx="457200" cy="457200"/>
          </a:xfrm>
          <a:prstGeom prst="ellipse">
            <a:avLst/>
          </a:prstGeom>
          <a:solidFill>
            <a:srgbClr val="5C234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405079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Scale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58200" y="48646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and reports need proper indexing/caching as member counts grow.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Breakdown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in-house build, keeping cost well below typical agency rates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5294"/>
              </p:ext>
            </p:extLst>
          </p:nvPr>
        </p:nvGraphicFramePr>
        <p:xfrm>
          <a:off x="640080" y="1508760"/>
          <a:ext cx="6675120" cy="239572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Covers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Estimate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Development (all modules)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B2230"/>
                          </a:solidFill>
                        </a:rPr>
                        <a:t>User app + admin panel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Bulk of budget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Aadhaar </a:t>
                      </a:r>
                      <a:r>
                        <a:rPr lang="en-US" sz="1100" dirty="0" err="1">
                          <a:solidFill>
                            <a:srgbClr val="2B2230"/>
                          </a:solidFill>
                        </a:rPr>
                        <a:t>eKYC</a:t>
                      </a: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 + Payment Gateway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Licensed provider setup &amp; integration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Fixed/per-use fees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B2230"/>
                          </a:solidFill>
                        </a:rPr>
                        <a:t>Testing - Functional + Security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Dedicated pass before launch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230"/>
                          </a:solidFill>
                        </a:rPr>
                        <a:t>Rs. 50,000 - 70,000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Post-launch support window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B2230"/>
                          </a:solidFill>
                        </a:rPr>
                        <a:t>90-180 days of bug-fix coverage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</a:rPr>
                        <a:t>Included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7772400" y="1508760"/>
            <a:ext cx="3794760" cy="2697480"/>
          </a:xfrm>
          <a:prstGeom prst="roundRect">
            <a:avLst>
              <a:gd name="adj" fmla="val 2712"/>
            </a:avLst>
          </a:prstGeom>
          <a:solidFill>
            <a:srgbClr val="5C234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77172" y="1783080"/>
            <a:ext cx="585216" cy="585216"/>
          </a:xfrm>
          <a:prstGeom prst="ellipse">
            <a:avLst/>
          </a:prstGeom>
          <a:solidFill>
            <a:srgbClr val="A258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328" y="1935236"/>
            <a:ext cx="280904" cy="280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E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0" y="27889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Rs. 7 - 8 Lakh</a:t>
            </a:r>
            <a:endParaRPr lang="en-US" sz="3400">
              <a:latin typeface="Cambria"/>
              <a:ea typeface="Cambria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046720" y="3520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9C3CC"/>
                </a:solidFill>
                <a:latin typeface="Calibri"/>
                <a:ea typeface="Calibri"/>
                <a:cs typeface="Calibri"/>
              </a:rPr>
              <a:t>vs. Rs. 12-20L agency build for the same scope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4526280"/>
            <a:ext cx="10927080" cy="868680"/>
          </a:xfrm>
          <a:prstGeom prst="roundRect">
            <a:avLst>
              <a:gd name="adj" fmla="val 6316"/>
            </a:avLst>
          </a:prstGeom>
          <a:solidFill>
            <a:srgbClr val="F7F0EC"/>
          </a:solidFill>
          <a:ln/>
        </p:spPr>
      </p:sp>
      <p:sp>
        <p:nvSpPr>
          <p:cNvPr id="12" name="Shape 8"/>
          <p:cNvSpPr/>
          <p:nvPr/>
        </p:nvSpPr>
        <p:spPr>
          <a:xfrm>
            <a:off x="868680" y="47183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8371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262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B2230"/>
                </a:solidFill>
                <a:latin typeface="Calibri"/>
                <a:ea typeface="Calibri"/>
                <a:cs typeface="Calibri"/>
              </a:rPr>
              <a:t>Payment terms: </a:t>
            </a:r>
            <a:r>
              <a:rPr lang="en-US" sz="120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Full payment on completion, after launch and verified working - no upfront payment required, per agreement with the client.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for FAQ &amp; Support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Built on the same AI stack already powering this project - minimal extra cost, real support-load reduction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3343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0052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8562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Your FAQs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98448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existing Donation, Membership &amp; Payment FAQ content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2873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7249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Default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98448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 Hindi or English automatically, matching the app's language setting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7426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5935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98448" y="3886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Resolves routine queries 24/7 - no wait for a human to be online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7F0E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461131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98448" y="44622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Escalation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298448" y="4754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a support ticket only when it genuinely can't help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903720" y="153343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THIS BUILD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903720" y="1874520"/>
            <a:ext cx="2217420" cy="1600200"/>
          </a:xfrm>
          <a:prstGeom prst="roundRect">
            <a:avLst>
              <a:gd name="adj" fmla="val 4000"/>
            </a:avLst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56398" y="2039112"/>
            <a:ext cx="512064" cy="512064"/>
          </a:xfrm>
          <a:prstGeom prst="ellipse">
            <a:avLst/>
          </a:prstGeom>
          <a:solidFill>
            <a:srgbClr val="A2586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9535" y="2172249"/>
            <a:ext cx="245791" cy="2457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265176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7068312" y="3008376"/>
            <a:ext cx="18882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answers, no office hours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9349740" y="1874520"/>
            <a:ext cx="2217420" cy="1600200"/>
          </a:xfrm>
          <a:prstGeom prst="roundRect">
            <a:avLst>
              <a:gd name="adj" fmla="val 4000"/>
            </a:avLst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202418" y="2039112"/>
            <a:ext cx="512064" cy="512064"/>
          </a:xfrm>
          <a:prstGeom prst="ellipse">
            <a:avLst/>
          </a:prstGeom>
          <a:solidFill>
            <a:srgbClr val="A2586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5555" y="2172249"/>
            <a:ext cx="245791" cy="24579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486900" y="265176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AI Stack</a:t>
            </a:r>
            <a:endParaRPr lang="en-US" sz="1700">
              <a:latin typeface="Cambria"/>
              <a:ea typeface="Cambria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514332" y="3008376"/>
            <a:ext cx="18882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D9C3CC"/>
                </a:solidFill>
                <a:latin typeface="Calibri"/>
                <a:ea typeface="Calibri"/>
                <a:cs typeface="Calibri"/>
              </a:rPr>
              <a:t>Easily integrated with the app</a:t>
            </a:r>
            <a:endParaRPr lang="en-US" sz="900" dirty="0">
              <a:solidFill>
                <a:srgbClr val="D9C3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903720" y="3703320"/>
            <a:ext cx="2217420" cy="1600200"/>
          </a:xfrm>
          <a:prstGeom prst="roundRect">
            <a:avLst>
              <a:gd name="adj" fmla="val 4000"/>
            </a:avLst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756398" y="3867912"/>
            <a:ext cx="512064" cy="512064"/>
          </a:xfrm>
          <a:prstGeom prst="ellipse">
            <a:avLst/>
          </a:prstGeom>
          <a:solidFill>
            <a:srgbClr val="A2586B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9535" y="4001049"/>
            <a:ext cx="245791" cy="24579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40880" y="448056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Ticket Load</a:t>
            </a:r>
            <a:endParaRPr lang="en-US" sz="1700" dirty="0"/>
          </a:p>
        </p:txBody>
      </p:sp>
      <p:sp>
        <p:nvSpPr>
          <p:cNvPr id="37" name="Text 28"/>
          <p:cNvSpPr/>
          <p:nvPr/>
        </p:nvSpPr>
        <p:spPr>
          <a:xfrm>
            <a:off x="7068312" y="4837176"/>
            <a:ext cx="18882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support hours for the issues that need a person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9349740" y="3703320"/>
            <a:ext cx="2217420" cy="1600200"/>
          </a:xfrm>
          <a:prstGeom prst="roundRect">
            <a:avLst>
              <a:gd name="adj" fmla="val 4000"/>
            </a:avLst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10202418" y="3867912"/>
            <a:ext cx="512064" cy="512064"/>
          </a:xfrm>
          <a:prstGeom prst="ellipse">
            <a:avLst/>
          </a:prstGeom>
          <a:solidFill>
            <a:srgbClr val="A2586B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5555" y="4001049"/>
            <a:ext cx="245791" cy="24579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486900" y="448056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</a:t>
            </a:r>
            <a:endParaRPr lang="en-US" sz="1700" dirty="0"/>
          </a:p>
        </p:txBody>
      </p:sp>
      <p:sp>
        <p:nvSpPr>
          <p:cNvPr id="42" name="Text 32"/>
          <p:cNvSpPr/>
          <p:nvPr/>
        </p:nvSpPr>
        <p:spPr>
          <a:xfrm>
            <a:off x="9514332" y="4837176"/>
            <a:ext cx="18882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out of the box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7059"/>
            </a:avLst>
          </a:prstGeom>
          <a:solidFill>
            <a:srgbClr val="F7F0EC"/>
          </a:solidFill>
          <a:ln/>
        </p:spPr>
      </p:sp>
      <p:sp>
        <p:nvSpPr>
          <p:cNvPr id="44" name="Text 34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230"/>
                </a:solidFill>
                <a:latin typeface="Calibri"/>
                <a:ea typeface="Calibri"/>
                <a:cs typeface="Calibri"/>
              </a:rPr>
              <a:t>Scope note: </a:t>
            </a:r>
            <a:r>
              <a:rPr lang="en-US" sz="120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Not in the original module list - flagged as a high-value, low-cost addition worth folding into phase 2.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292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B2230"/>
                </a:solidFill>
                <a:latin typeface="Cambria"/>
                <a:ea typeface="Cambria"/>
                <a:cs typeface="Cambria" pitchFamily="34" charset="-120"/>
              </a:rPr>
              <a:t>Next Steps - Rollout Plan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sign-off to launch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77263" y="2926080"/>
            <a:ext cx="8434426" cy="0"/>
          </a:xfrm>
          <a:prstGeom prst="line">
            <a:avLst/>
          </a:prstGeom>
          <a:noFill/>
          <a:ln w="38100">
            <a:solidFill>
              <a:srgbClr val="E3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8643" y="2537460"/>
            <a:ext cx="777240" cy="777240"/>
          </a:xfrm>
          <a:prstGeom prst="ellipse">
            <a:avLst/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03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7260" y="3520440"/>
            <a:ext cx="1880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Scope Sign-off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7260" y="3886200"/>
            <a:ext cx="18800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module list &amp; compliance approach (eKYC vendor, gateway)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97250" y="2537460"/>
            <a:ext cx="777240" cy="777240"/>
          </a:xfrm>
          <a:prstGeom prst="ellipse">
            <a:avLst/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410" y="26746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45866" y="3520440"/>
            <a:ext cx="1880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Development Sprint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45866" y="3886200"/>
            <a:ext cx="18800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Phased module </a:t>
            </a:r>
            <a:r>
              <a:rPr lang="en-US" sz="100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delivery, ~1.5-2 </a:t>
            </a:r>
            <a:r>
              <a:rPr lang="en-US" sz="1000" dirty="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months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705856" y="2537460"/>
            <a:ext cx="777240" cy="777240"/>
          </a:xfrm>
          <a:prstGeom prst="ellipse">
            <a:avLst/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26746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4473" y="3520440"/>
            <a:ext cx="1880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Internal QA Rounds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154473" y="3886200"/>
            <a:ext cx="18800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self-test cycles as modules complete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814462" y="2537460"/>
            <a:ext cx="777240" cy="777240"/>
          </a:xfrm>
          <a:prstGeom prst="ellipse">
            <a:avLst/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1622" y="26746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3079" y="3520440"/>
            <a:ext cx="1880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Dedicated Test Pass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263079" y="3886200"/>
            <a:ext cx="18800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Paid functional + security testing, 5-8 </a:t>
            </a:r>
            <a:r>
              <a:rPr lang="en-US" sz="1000" dirty="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days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9923069" y="2537460"/>
            <a:ext cx="777240" cy="777240"/>
          </a:xfrm>
          <a:prstGeom prst="ellipse">
            <a:avLst/>
          </a:prstGeom>
          <a:solidFill>
            <a:srgbClr val="5C2340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229" y="267462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71686" y="3520440"/>
            <a:ext cx="1880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Launch &amp; Support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86200" y="3886200"/>
            <a:ext cx="18800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Go live, then 45-60 day support window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40080" y="5349240"/>
            <a:ext cx="10927080" cy="777240"/>
          </a:xfrm>
          <a:prstGeom prst="roundRect">
            <a:avLst>
              <a:gd name="adj" fmla="val 7059"/>
            </a:avLst>
          </a:prstGeom>
          <a:solidFill>
            <a:srgbClr val="F7F0EC"/>
          </a:solidFill>
          <a:ln/>
        </p:spPr>
      </p:sp>
      <p:sp>
        <p:nvSpPr>
          <p:cNvPr id="26" name="Text 19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B2230"/>
                </a:solidFill>
                <a:latin typeface="Calibri"/>
                <a:ea typeface="Calibri"/>
                <a:cs typeface="Calibri"/>
              </a:rPr>
              <a:t>Estimated timeline: </a:t>
            </a:r>
            <a:r>
              <a:rPr lang="en-US" sz="1200" b="1" dirty="0">
                <a:latin typeface="Calibri"/>
                <a:ea typeface="Calibri"/>
                <a:cs typeface="Calibri"/>
              </a:rPr>
              <a:t>1.5-2 months</a:t>
            </a:r>
            <a:r>
              <a:rPr lang="en-US" sz="1200" dirty="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, depending mainly on </a:t>
            </a:r>
            <a:r>
              <a:rPr lang="en-US" sz="1200" dirty="0" err="1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eKYC</a:t>
            </a:r>
            <a:r>
              <a:rPr lang="en-US" sz="1200" dirty="0">
                <a:solidFill>
                  <a:srgbClr val="6B5E68"/>
                </a:solidFill>
                <a:latin typeface="Calibri"/>
                <a:ea typeface="Calibri"/>
                <a:cs typeface="Calibri"/>
              </a:rPr>
              <a:t> vendor onboarding and payment reconciliation testing 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943600" cy="5943600"/>
          </a:xfrm>
          <a:prstGeom prst="ellipse">
            <a:avLst/>
          </a:prstGeom>
          <a:solidFill>
            <a:srgbClr val="3E173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A2586B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560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mbria"/>
                <a:ea typeface="Cambria"/>
              </a:rPr>
              <a:t>SKDV</a:t>
            </a:r>
            <a:r>
              <a:rPr lang="en-US" sz="2800" b="1" dirty="0">
                <a:solidFill>
                  <a:srgbClr val="FFFFFF"/>
                </a:solidFill>
                <a:latin typeface="Cambria"/>
                <a:ea typeface="Cambria"/>
              </a:rPr>
              <a:t> Parivar - Your Community, Now in Your Pocket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E7D6CF"/>
                </a:solidFill>
                <a:ea typeface="+mn-lt"/>
                <a:cs typeface="+mn-lt"/>
              </a:rPr>
              <a:t>Sewa</a:t>
            </a:r>
            <a:r>
              <a:rPr lang="en-US" sz="1500" dirty="0">
                <a:solidFill>
                  <a:srgbClr val="E7D6CF"/>
                </a:solidFill>
                <a:ea typeface="+mn-lt"/>
                <a:cs typeface="+mn-lt"/>
              </a:rPr>
              <a:t> Hamara Sankalp, Parivar Hamari Shakti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500" dirty="0">
              <a:solidFill>
                <a:srgbClr val="E7D6CF"/>
              </a:solidFill>
              <a:ea typeface="+mn-lt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463040" cy="0"/>
          </a:xfrm>
          <a:prstGeom prst="line">
            <a:avLst/>
          </a:prstGeom>
          <a:noFill/>
          <a:ln w="31750">
            <a:solidFill>
              <a:srgbClr val="C99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SKDV Parivar  |  App Enhancement Proposal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SKDV Parivar App - Enhancement Proposal</dc:title>
  <dc:subject>PptxGenJS Presentation</dc:subject>
  <dc:creator>SKDV Parivar</dc:creator>
  <cp:lastModifiedBy>SKDV Parivar</cp:lastModifiedBy>
  <cp:revision>99</cp:revision>
  <dcterms:created xsi:type="dcterms:W3CDTF">2026-06-26T08:42:13Z</dcterms:created>
  <dcterms:modified xsi:type="dcterms:W3CDTF">2026-06-26T10:31:17Z</dcterms:modified>
</cp:coreProperties>
</file>